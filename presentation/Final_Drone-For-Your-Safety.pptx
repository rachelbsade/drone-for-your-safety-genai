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Bitter Medium"/>
      <p:regular r:id="rId15"/>
    </p:embeddedFont>
    <p:embeddedFont>
      <p:font typeface="Bitter Medium"/>
      <p:regular r:id="rId16"/>
    </p:embeddedFont>
    <p:embeddedFont>
      <p:font typeface="Bitter Medium"/>
      <p:regular r:id="rId17"/>
    </p:embeddedFont>
    <p:embeddedFont>
      <p:font typeface="Bitter Medium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3408878"/>
            <a:ext cx="57627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Drone For Your Safety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457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Rachel Sade, Yuval Pery, Shaked Horesh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0144"/>
            <a:ext cx="109262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Adverse-Weather Drone Object Detection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9908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fires or smoke, visibility decreases - rapid identification is needed to support rescue and warning in order to save lives.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57299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FF8F0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126819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540" y="281713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2600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61614" y="3021211"/>
            <a:ext cx="272177" cy="272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084" y="37242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Task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421469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 Detection (Bounding Boxes)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8548" y="3157299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FFF8F0"/>
          </a:solidFill>
          <a:ln/>
        </p:spPr>
      </p:sp>
      <p:sp>
        <p:nvSpPr>
          <p:cNvPr id="11" name="Shape 8"/>
          <p:cNvSpPr/>
          <p:nvPr/>
        </p:nvSpPr>
        <p:spPr>
          <a:xfrm>
            <a:off x="7428548" y="3126819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2" name="Shape 9"/>
          <p:cNvSpPr/>
          <p:nvPr/>
        </p:nvSpPr>
        <p:spPr>
          <a:xfrm>
            <a:off x="10292298" y="281713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2600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6371" y="3021211"/>
            <a:ext cx="272177" cy="2721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5842" y="37242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Metrics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685842" y="4214693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Precision, Recall, mAP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793790" y="5401866"/>
            <a:ext cx="13042821" cy="1677591"/>
          </a:xfrm>
          <a:prstGeom prst="roundRect">
            <a:avLst>
              <a:gd name="adj" fmla="val 8721"/>
            </a:avLst>
          </a:prstGeom>
          <a:solidFill>
            <a:srgbClr val="FFF8F0"/>
          </a:solidFill>
          <a:ln/>
        </p:spPr>
      </p:sp>
      <p:sp>
        <p:nvSpPr>
          <p:cNvPr id="17" name="Shape 13"/>
          <p:cNvSpPr/>
          <p:nvPr/>
        </p:nvSpPr>
        <p:spPr>
          <a:xfrm>
            <a:off x="793790" y="5371386"/>
            <a:ext cx="13042821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8" name="Shape 14"/>
          <p:cNvSpPr/>
          <p:nvPr/>
        </p:nvSpPr>
        <p:spPr>
          <a:xfrm>
            <a:off x="6974979" y="506170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2600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9052" y="5265777"/>
            <a:ext cx="272177" cy="27217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084" y="5968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Models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1051084" y="6459260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YOLOv8 and YOLOv11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5488" y="904518"/>
            <a:ext cx="6035278" cy="567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Achievements &amp; Novelty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45488" y="1836301"/>
            <a:ext cx="2775585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Achievements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45488" y="2322552"/>
            <a:ext cx="6048018" cy="1309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YOLO dataset: train/ val/ test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Labels: person, fire, smoke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Creating extreme conditions: fire + smoke on forest images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YOLOv8 training + 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best.pt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+ evaluation on test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Results: precision / recall / mAP + recognition examples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544514" y="1836301"/>
            <a:ext cx="2725936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Novelty &amp; Innovation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44514" y="2322552"/>
            <a:ext cx="6048018" cy="104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Taking forest images and creating fire / smoke for an existing data collection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the model even in low-quality image conditions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Generating the fire and smoke to cover the people in the dataset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88" y="3909011"/>
            <a:ext cx="4543187" cy="25554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5488" y="6628160"/>
            <a:ext cx="604801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514" y="3909011"/>
            <a:ext cx="4442222" cy="24986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44514" y="6571367"/>
            <a:ext cx="604801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8865"/>
            <a:ext cx="115289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Composition by Generation Method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74620"/>
            <a:ext cx="345817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Why we used all three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326725"/>
            <a:ext cx="6244709" cy="326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Synthetic Compositing (70%)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Provides precise ground truth and full control over labels for synthetic compositing.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Stable Diffusion version 1.5 (10%)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Improves realism, especially for complex smoke / fire appearance and lighting consistency.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(20%)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Reduces false positives and trains the model on "no-fire / no-smoke" scenarios for robust detection. 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9521" y="2702957"/>
            <a:ext cx="6244709" cy="30128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99521" y="57463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72105"/>
          </a:solidFill>
          <a:ln/>
        </p:spPr>
      </p:sp>
      <p:sp>
        <p:nvSpPr>
          <p:cNvPr id="7" name="Text 4"/>
          <p:cNvSpPr/>
          <p:nvPr/>
        </p:nvSpPr>
        <p:spPr>
          <a:xfrm>
            <a:off x="7887295" y="5746313"/>
            <a:ext cx="169211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Synthetic Compositing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9744313" y="57463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B3520D"/>
          </a:solidFill>
          <a:ln/>
        </p:spPr>
      </p:sp>
      <p:sp>
        <p:nvSpPr>
          <p:cNvPr id="9" name="Text 6"/>
          <p:cNvSpPr/>
          <p:nvPr/>
        </p:nvSpPr>
        <p:spPr>
          <a:xfrm>
            <a:off x="10032087" y="5746313"/>
            <a:ext cx="166723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Stable Diffusion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1864221" y="57463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F28B42"/>
          </a:solidFill>
          <a:ln/>
        </p:spPr>
      </p:sp>
      <p:sp>
        <p:nvSpPr>
          <p:cNvPr id="11" name="Text 8"/>
          <p:cNvSpPr/>
          <p:nvPr/>
        </p:nvSpPr>
        <p:spPr>
          <a:xfrm>
            <a:off x="12151995" y="5746313"/>
            <a:ext cx="14088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Images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61468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Samples: Before vs After (Total = 2,500)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402449" y="779502"/>
            <a:ext cx="7825502" cy="7462838"/>
          </a:xfrm>
          <a:prstGeom prst="roundRect">
            <a:avLst>
              <a:gd name="adj" fmla="val 63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0069" y="787122"/>
            <a:ext cx="7810262" cy="21919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523774" y="828675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76982" y="828675"/>
            <a:ext cx="2015728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Augmented Output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627025" y="828675"/>
            <a:ext cx="204227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Image (Clean)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903619" y="828675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Sample Count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10069" y="1006316"/>
            <a:ext cx="7810262" cy="241446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523774" y="1047869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523774" y="1217890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23774" y="1387912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23774" y="1557933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Original </a:t>
            </a:r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forest images 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23774" y="1727954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(without fire)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76982" y="1047869"/>
            <a:ext cx="2015728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76982" y="1217890"/>
            <a:ext cx="2015728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76982" y="1387912"/>
            <a:ext cx="2015728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76982" y="1557933"/>
            <a:ext cx="2015728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76982" y="1727954"/>
            <a:ext cx="2015728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None</a:t>
            </a:r>
            <a:endParaRPr lang="en-US" sz="8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7025" y="1047869"/>
            <a:ext cx="2042279" cy="1148715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025" y="2230517"/>
            <a:ext cx="2042279" cy="114871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903619" y="1047869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9903619" y="1217890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9903619" y="1387912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9903619" y="1557933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9903619" y="1727954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500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3410069" y="3420785"/>
            <a:ext cx="7810262" cy="23994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3523774" y="3462338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3523774" y="3632359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3523774" y="3802380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523774" y="3972401"/>
            <a:ext cx="1618893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 and smoke generated with </a:t>
            </a:r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Stable Diffusion</a:t>
            </a:r>
            <a:endParaRPr lang="en-US" sz="85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866" y="3462338"/>
            <a:ext cx="1965841" cy="1105733"/>
          </a:xfrm>
          <a:prstGeom prst="rect">
            <a:avLst/>
          </a:prstGeom>
        </p:spPr>
      </p:pic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839" y="4602004"/>
            <a:ext cx="2009894" cy="1130498"/>
          </a:xfrm>
          <a:prstGeom prst="rect">
            <a:avLst/>
          </a:prstGeom>
        </p:spPr>
      </p:pic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3692" y="3462338"/>
            <a:ext cx="2028825" cy="1141214"/>
          </a:xfrm>
          <a:prstGeom prst="rect">
            <a:avLst/>
          </a:prstGeom>
        </p:spPr>
      </p:pic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692" y="4637484"/>
            <a:ext cx="2028825" cy="114121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903619" y="3462338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9903619" y="3632359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9903619" y="3802380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39" name="Text 31"/>
          <p:cNvSpPr/>
          <p:nvPr/>
        </p:nvSpPr>
        <p:spPr>
          <a:xfrm>
            <a:off x="9903619" y="3972401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40" name="Text 32"/>
          <p:cNvSpPr/>
          <p:nvPr/>
        </p:nvSpPr>
        <p:spPr>
          <a:xfrm>
            <a:off x="9903619" y="4142423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250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3410069" y="5820251"/>
            <a:ext cx="7810262" cy="241446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2" name="Text 34"/>
          <p:cNvSpPr/>
          <p:nvPr/>
        </p:nvSpPr>
        <p:spPr>
          <a:xfrm>
            <a:off x="3523774" y="5861804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43" name="Text 35"/>
          <p:cNvSpPr/>
          <p:nvPr/>
        </p:nvSpPr>
        <p:spPr>
          <a:xfrm>
            <a:off x="3523774" y="6031825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3523774" y="6201847"/>
            <a:ext cx="161889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3523774" y="6371868"/>
            <a:ext cx="1618893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 and smoke generated with  </a:t>
            </a:r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Synthetic Compositing</a:t>
            </a:r>
            <a:endParaRPr lang="en-US" sz="850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982" y="5861804"/>
            <a:ext cx="2015728" cy="1133832"/>
          </a:xfrm>
          <a:prstGeom prst="rect">
            <a:avLst/>
          </a:prstGeom>
        </p:spPr>
      </p:pic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982" y="7029569"/>
            <a:ext cx="2015728" cy="1133832"/>
          </a:xfrm>
          <a:prstGeom prst="rect">
            <a:avLst/>
          </a:prstGeom>
        </p:spPr>
      </p:pic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7025" y="5861804"/>
            <a:ext cx="2042279" cy="1148715"/>
          </a:xfrm>
          <a:prstGeom prst="rect">
            <a:avLst/>
          </a:prstGeom>
        </p:spPr>
      </p:pic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7025" y="7044452"/>
            <a:ext cx="2042279" cy="1148715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9903619" y="5861804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51" name="Text 39"/>
          <p:cNvSpPr/>
          <p:nvPr/>
        </p:nvSpPr>
        <p:spPr>
          <a:xfrm>
            <a:off x="9903619" y="6031825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52" name="Text 40"/>
          <p:cNvSpPr/>
          <p:nvPr/>
        </p:nvSpPr>
        <p:spPr>
          <a:xfrm>
            <a:off x="9903619" y="6201847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53" name="Text 41"/>
          <p:cNvSpPr/>
          <p:nvPr/>
        </p:nvSpPr>
        <p:spPr>
          <a:xfrm>
            <a:off x="9903619" y="6371868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54" name="Text 42"/>
          <p:cNvSpPr/>
          <p:nvPr/>
        </p:nvSpPr>
        <p:spPr>
          <a:xfrm>
            <a:off x="9903619" y="6541889"/>
            <a:ext cx="120336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1750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690" y="647819"/>
            <a:ext cx="7328773" cy="559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Development Pipeline &amp; Evaluation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1141690" y="1489234"/>
            <a:ext cx="715685" cy="1073587"/>
          </a:xfrm>
          <a:prstGeom prst="roundRect">
            <a:avLst>
              <a:gd name="adj" fmla="val 36004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65290" y="1858208"/>
            <a:ext cx="268367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998464" y="1668066"/>
            <a:ext cx="223670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Collection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998464" y="2032278"/>
            <a:ext cx="11490246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Forest images + creating versions with fire/smoke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41690" y="2703909"/>
            <a:ext cx="715685" cy="1073587"/>
          </a:xfrm>
          <a:prstGeom prst="roundRect">
            <a:avLst>
              <a:gd name="adj" fmla="val 36004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5290" y="3072884"/>
            <a:ext cx="268367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998464" y="2882741"/>
            <a:ext cx="223670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Labels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998464" y="3246953"/>
            <a:ext cx="11490246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person/fire/smoke in YOLO format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1690" y="3918585"/>
            <a:ext cx="715685" cy="1073587"/>
          </a:xfrm>
          <a:prstGeom prst="roundRect">
            <a:avLst>
              <a:gd name="adj" fmla="val 36004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65290" y="4287560"/>
            <a:ext cx="268367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998464" y="4097417"/>
            <a:ext cx="223670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Division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998464" y="4461629"/>
            <a:ext cx="11490246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Train/ val/ test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41690" y="5133261"/>
            <a:ext cx="715685" cy="1073587"/>
          </a:xfrm>
          <a:prstGeom prst="roundRect">
            <a:avLst>
              <a:gd name="adj" fmla="val 36004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5290" y="5502235"/>
            <a:ext cx="268367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998464" y="5312093"/>
            <a:ext cx="223670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Model Training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998464" y="5676305"/>
            <a:ext cx="11490246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Fine-tuning 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pretrained YOLOv8 and YOLOv11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41690" y="6347936"/>
            <a:ext cx="715685" cy="1233845"/>
          </a:xfrm>
          <a:prstGeom prst="roundRect">
            <a:avLst>
              <a:gd name="adj" fmla="val 36004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65290" y="6797040"/>
            <a:ext cx="268367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5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998464" y="6526768"/>
            <a:ext cx="223670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Effort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998464" y="6890980"/>
            <a:ext cx="11490246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ran the image creation several times and tried different prompts until we got fire and smoke that looked real enough to train YOLO 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42599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Human Detection Performance: 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688777"/>
            <a:ext cx="4887754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Person Detection Accuracy (Comparison: YOLOv8 vs. YOLOv11)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02449" y="1163836"/>
            <a:ext cx="3884414" cy="1524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4635818" y="125099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02449" y="1450777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 YOLOv8: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43537" y="1163836"/>
            <a:ext cx="3884414" cy="1524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8" name="Text 6"/>
          <p:cNvSpPr/>
          <p:nvPr/>
        </p:nvSpPr>
        <p:spPr>
          <a:xfrm>
            <a:off x="8576905" y="125099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43537" y="1450777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YOLOv11: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02449" y="1812131"/>
            <a:ext cx="3884414" cy="604361"/>
          </a:xfrm>
          <a:prstGeom prst="roundRect">
            <a:avLst>
              <a:gd name="adj" fmla="val 12104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7209" y="1812131"/>
            <a:ext cx="60960" cy="604361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2" name="Text 10"/>
          <p:cNvSpPr/>
          <p:nvPr/>
        </p:nvSpPr>
        <p:spPr>
          <a:xfrm>
            <a:off x="3576757" y="194071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Precision = 69%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76757" y="2151817"/>
            <a:ext cx="35815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Measures the accuracy of positive predictions.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43537" y="1812131"/>
            <a:ext cx="3884414" cy="604361"/>
          </a:xfrm>
          <a:prstGeom prst="roundRect">
            <a:avLst>
              <a:gd name="adj" fmla="val 12104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28297" y="1812131"/>
            <a:ext cx="60960" cy="604361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6" name="Text 14"/>
          <p:cNvSpPr/>
          <p:nvPr/>
        </p:nvSpPr>
        <p:spPr>
          <a:xfrm>
            <a:off x="7517844" y="194071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Precision =  84.4%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17844" y="2151817"/>
            <a:ext cx="35815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02449" y="2473166"/>
            <a:ext cx="3884414" cy="604361"/>
          </a:xfrm>
          <a:prstGeom prst="roundRect">
            <a:avLst>
              <a:gd name="adj" fmla="val 12104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7209" y="2473166"/>
            <a:ext cx="60960" cy="604361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20" name="Text 18"/>
          <p:cNvSpPr/>
          <p:nvPr/>
        </p:nvSpPr>
        <p:spPr>
          <a:xfrm>
            <a:off x="3576757" y="260175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Recall = 70.9%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76757" y="2812852"/>
            <a:ext cx="35815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Indicates the model's ability to find all relevant instances.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43537" y="2473166"/>
            <a:ext cx="3884414" cy="604361"/>
          </a:xfrm>
          <a:prstGeom prst="roundRect">
            <a:avLst>
              <a:gd name="adj" fmla="val 12104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28297" y="2473166"/>
            <a:ext cx="60960" cy="604361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24" name="Text 22"/>
          <p:cNvSpPr/>
          <p:nvPr/>
        </p:nvSpPr>
        <p:spPr>
          <a:xfrm>
            <a:off x="7517844" y="260175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Recall =  79.6%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17844" y="2812852"/>
            <a:ext cx="35815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02449" y="3134201"/>
            <a:ext cx="3884414" cy="740450"/>
          </a:xfrm>
          <a:prstGeom prst="roundRect">
            <a:avLst>
              <a:gd name="adj" fmla="val 9879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7209" y="3134201"/>
            <a:ext cx="60960" cy="74045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28" name="Text 26"/>
          <p:cNvSpPr/>
          <p:nvPr/>
        </p:nvSpPr>
        <p:spPr>
          <a:xfrm>
            <a:off x="3576757" y="326278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mAP50 = 71.9%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76757" y="3473887"/>
            <a:ext cx="3581519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 Average Precision at IoU 0.5, measuring bounding box accuracy.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43537" y="3134201"/>
            <a:ext cx="3884414" cy="740450"/>
          </a:xfrm>
          <a:prstGeom prst="roundRect">
            <a:avLst>
              <a:gd name="adj" fmla="val 9879"/>
            </a:avLst>
          </a:prstGeom>
          <a:solidFill>
            <a:srgbClr val="FFF8F0"/>
          </a:solidFill>
          <a:ln w="15240">
            <a:solidFill>
              <a:srgbClr val="E2C8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28297" y="3134201"/>
            <a:ext cx="60960" cy="74045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32" name="Text 30"/>
          <p:cNvSpPr/>
          <p:nvPr/>
        </p:nvSpPr>
        <p:spPr>
          <a:xfrm>
            <a:off x="7517844" y="326278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mAP50 = 82%</a:t>
            </a:r>
            <a:endParaRPr lang="en-US" sz="11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449" y="4002048"/>
            <a:ext cx="3774400" cy="2830711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171" y="4002048"/>
            <a:ext cx="3774400" cy="2830711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126" y="7036951"/>
            <a:ext cx="3023711" cy="1701165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563" y="7036951"/>
            <a:ext cx="3023711" cy="17011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9042" y="943689"/>
            <a:ext cx="10073164" cy="49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Outlook: Achievements, Learnings &amp; Next Steps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59042" y="1658422"/>
            <a:ext cx="10912316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were able to train YOLOv8 &amp; YOLOv11 to recognize people and fire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59042" y="2107287"/>
            <a:ext cx="3014543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Takeaways &amp; Learnings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859042" y="2514005"/>
            <a:ext cx="5263277" cy="858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learned that data is the most important factor, we need more variety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smoky conditions, objects simply disappear into the background, so we need data that simulates this so the model can learn to cope.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15701" y="2107287"/>
            <a:ext cx="2827615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Future Work &amp; Next Steps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515701" y="2514005"/>
            <a:ext cx="5263277" cy="1073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 and clean the data, then train again and compare improvement against the baseline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real wildfire images for more realistic performance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Extend beyond forests and fires to additional extreme scenarios at different places to support more rescue missions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9042" y="3835805"/>
            <a:ext cx="4261247" cy="2396847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573" y="3835805"/>
            <a:ext cx="5150287" cy="28970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28573" y="6856778"/>
            <a:ext cx="5150287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2026-02-03T19:12:35Z</dcterms:created>
  <dcterms:modified xsi:type="dcterms:W3CDTF">2026-02-03T19:12:35Z</dcterms:modified>
</cp:coreProperties>
</file>